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o grupo e a ferramenta. Deixar claro desde já que o Plotly não é uma plataforma de BI tradicional como o Power BI — é uma biblioteca de visualização com um ecossistema em volta. Essa diferença é o fio condutor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rápido da apresentação. Não gastar mais que 20 segundos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principal: um núcleo em JavaScript, várias linguagens por cima. É por isso que o gráfico é interativo por padrão — ele é web nativo, não uma imagem gerada.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que 'Plotly' no singular é impreciso — é um conjunto de camadas. O Chart Studio é a camada low-code, e é ela que aproxima o Plotly de uma ferramenta de BI tradicional.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antecipa a pergunta óbvia do professor. Dizer com todas as letras: o Plotly não está no quadrante porque não é uma plataforma de BI. Admitir isso dá credibilidade ao resto.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Transição para a parte conceitual do mapeamento.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ideia central: nesta fase a ferramenta serve para prototipar rápido e alinhar. O código como registro da definição do KPI é um argumento que volta na Parte III.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é onde mostramos o notebook ao vivo. Abrir o 01 e passar o mouse num gráfico para demonstrar o tooltip.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Atenção: no Plotly a limpeza é feita pelo pandas; o Plotly visualiza o resultado. Dizer isso abertamente — é uma diferença arquitetural real em relação ao Power Query, que integra as duas coisas.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Transição para a demonstração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Destacar que o dataset vem de artigo acadêmico, não é só 'peguei no Kaggle'. E que ele supera com folga os mínimos do enunciado.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slide-chave da Fase 3. A pergunta que o professor pode fazer: por que estratégias diferentes? Resposta: porque o motivo da ausência é diferente em cada coluna.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de demonstrar a interatividade: passar o mouse nas caixas do box plot para mostrar quartis, e clicar na legenda para ocultar uma série.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por que a escala é divergente e o meio é cinza — foi escolha deliberada de visualização, não padrão da ferramenta.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Aviso importante: o número de colunas é 32 antes e 32 depois. É coincidência — seis saíram e seis entraram. Falar isso antes que alguém pergunte.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mais forte da apresentação. A justificativa de remoção por vazamento é muito mais sólida que 'a coluna tem 94% de ausência'. Se houver uma pergunta difícil, provavelmente vem daqui.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Antecipar a pergunta sobre as 32 colunas. Listar rapidamente as seis criadas: total_noites, total_hospedes, tem_criancas, receita_estimada, faixa_antecedencia e data_chegada.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de rodar o dashboard em Dash ao vivo: aplicar o filtro de City Hotel e mostrar os indicadores mudando. Se a internet falhar, abrir o HTML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Transição para a parte mais avaliada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vender o Plotly como superior. As três 'perdas' são reais e reconhecê-las é o que dá peso às vitórias. Se perguntarem qual usaríamos numa empresa: depende de quem vai manter o painel.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reconhecendo a limitação. Isso costuma valer mais do que uma conclusão triunfalista.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F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N1 · Ciência de Dados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536192"/>
            <a:ext cx="10607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Aplicação Prática do Plotly nas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Fases Iniciais do CRISP-DM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310128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estudo de caso sobre cancelamento de reservas de hotel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2245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B9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 DE BI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4480560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Plotly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3931920" y="4224528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B9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931920" y="448056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Henrique Cordeiro de Oliveira · Lucas Mendonça · Victor Kunz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Nicholas Scoz · Kauã Lucindo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9436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Universitário Católica de Santa Catarina · Prof. Dr. Claudinei Dias (Ney) ·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Roteiro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partes, do conceito à crítica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11057839" cy="1207008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" y="2231136"/>
            <a:ext cx="457200" cy="457200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50976" y="22311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18488" y="2066544"/>
            <a:ext cx="95947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Fundamentação teórica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618488" y="2432304"/>
            <a:ext cx="95947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o Plotly, como se organiza, e como cada funcionalidade sustenta as três primeiras fases do CRISP-DM.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3246120"/>
            <a:ext cx="11057839" cy="1207008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50976" y="3648456"/>
            <a:ext cx="457200" cy="457200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50976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18488" y="3483864"/>
            <a:ext cx="95947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de caso prático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618488" y="3849624"/>
            <a:ext cx="95947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 mil reservas de hotel: exploração, limpeza, engenharia de features e um dashboard interativo.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4663440"/>
            <a:ext cx="11057839" cy="1207008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976" y="5065776"/>
            <a:ext cx="457200" cy="457200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50976" y="5065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18488" y="4901184"/>
            <a:ext cx="95947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crítica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618488" y="5266944"/>
            <a:ext cx="95947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Plotly faz melhor que uma ferramenta de BI fechada — e o que faz pior.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o Plotly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de visualização open-source, fundada em 2013 em Montreal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91640"/>
            <a:ext cx="63093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Plotly nasceu como uma biblioteca JavaScript de gráficos e cresceu até virar um ecossistema completo de análise. O núcleo — plotly.js — é o mesmo que roda por baixo das bibliotecas para Python, R e Julia, o que explica por que o gráfico sai idêntico em qualquer linguagem.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software livre sob licença MIT, mantido por uma empresa que monetiza a versão corporativa do Dash. Isso importa: não há custo de licença para o que usamos aqui.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0" y="1691640"/>
            <a:ext cx="4315968" cy="3931920"/>
          </a:xfrm>
          <a:prstGeom prst="roundRect">
            <a:avLst>
              <a:gd name="adj" fmla="val 1860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99248" y="1938528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2013</a:t>
            </a:r>
            <a:endParaRPr lang="en-US" sz="4200" dirty="0"/>
          </a:p>
        </p:txBody>
      </p:sp>
      <p:sp>
        <p:nvSpPr>
          <p:cNvPr id="7" name="Text 5"/>
          <p:cNvSpPr txBox="1"/>
          <p:nvPr/>
        </p:nvSpPr>
        <p:spPr>
          <a:xfrm>
            <a:off x="7699248" y="263347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de fundação, em Montreal (Canadá)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699248" y="3054096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</a:t>
            </a:r>
            <a:endParaRPr lang="en-US" sz="4200" dirty="0"/>
          </a:p>
        </p:txBody>
      </p:sp>
      <p:sp>
        <p:nvSpPr>
          <p:cNvPr id="9" name="Text 7"/>
          <p:cNvSpPr txBox="1"/>
          <p:nvPr/>
        </p:nvSpPr>
        <p:spPr>
          <a:xfrm>
            <a:off x="7699248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Licença livre — sem custo de uso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699248" y="4169664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7699248" y="486460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Linguagens sobre o mesmo núcleo: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JavaScript, Python, R e Julia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937760"/>
            <a:ext cx="6309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Interatividade não é um extra: todo gráfico nasce com zoom, seleção, legenda clicável e exportação.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400800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plotly.com · repositório oficial no GitHub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Componentes e arquitetura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camadas — usamos quatro delas neste trabalho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55648"/>
            <a:ext cx="11057839" cy="804672"/>
          </a:xfrm>
          <a:prstGeom prst="roundRect">
            <a:avLst>
              <a:gd name="adj" fmla="val 9091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" y="19659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77824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plotly.js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167128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motor. Biblioteca JavaScript que desenha e torna interativo cada gráfico.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9692640" y="20025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2670048"/>
            <a:ext cx="11057839" cy="804672"/>
          </a:xfrm>
          <a:prstGeom prst="roundRect">
            <a:avLst>
              <a:gd name="adj" fmla="val 9091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" y="28803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481328" y="2788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 Express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3081528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de alto nível: um gráfico completo em uma linha de código.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9692640" y="29169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Usado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584448"/>
            <a:ext cx="11057839" cy="804672"/>
          </a:xfrm>
          <a:prstGeom prst="roundRect">
            <a:avLst>
              <a:gd name="adj" fmla="val 9091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7824" y="37947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81328" y="3703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Objects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3995928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fino, para quando o Express não alcança. Usado no dashboard.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692640" y="38313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Usado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4498848"/>
            <a:ext cx="11057839" cy="804672"/>
          </a:xfrm>
          <a:prstGeom prst="roundRect">
            <a:avLst>
              <a:gd name="adj" fmla="val 9091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77824" y="47091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" y="4709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481328" y="4617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481328" y="4910328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para transformar gráficos em aplicação web com filtros.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692640" y="4745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Usado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5413248"/>
            <a:ext cx="11057839" cy="804672"/>
          </a:xfrm>
          <a:prstGeom prst="roundRect">
            <a:avLst>
              <a:gd name="adj" fmla="val 9091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77824" y="5623560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7824" y="5623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481328" y="5532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Studio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481328" y="5824728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 visual no navegador: sobe CSV e monta gráfico sem escrever código.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9692640" y="56601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Low-code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Posicionamento de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Plotly não aparece no Quadrante Mágico do Gartner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486400" cy="3977640"/>
          </a:xfrm>
          <a:prstGeom prst="roundRect">
            <a:avLst>
              <a:gd name="adj" fmla="val 1839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93852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ausência é proposital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3774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Quadrante Mágico de Analytics and BI Platforms avalia plataformas completas: governança, catálogo de dados, modelagem, distribuição corporativa.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Plotly não concorre nessa categoria. Ele é uma biblioteca de visualização — compará-lo ao Power BI é como comparar um motor a um carro.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isso é mais honesto do que forçar um enquadramento que não existe.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175564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Plotly é forte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92240" y="2267712"/>
            <a:ext cx="347472" cy="347472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92240" y="22677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004304" y="2249424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Equipes de ciência de dados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7004304" y="2523744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já trabalha em Python e precisa de gráfico interativo no notebook.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92240" y="3127248"/>
            <a:ext cx="347472" cy="347472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31272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004304" y="31089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Aplicações analíticas sob medida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7004304" y="3383280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com regra de negócio que uma ferramenta fechada não expressa.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92240" y="3986784"/>
            <a:ext cx="347472" cy="347472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39867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004304" y="3968496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Produtos com dados embutidos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004304" y="4242816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Gráficos dentro de um sistema próprio, não num portal de BI separado.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92240" y="4846320"/>
            <a:ext cx="347472" cy="347472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92240" y="4846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4304" y="4828032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e publicação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004304" y="5102352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Figuras reproduzíveis, versionadas junto com o código que as gera.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400800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Gartner, Magic Quadrant for Analytics and Business Intelligence Platforms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F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828800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154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CRISP-DM e o Plotly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041648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cada funcionalidade da ferramenta sustenta as três primeiras fases da metodologia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1 — Compreensão do Negócio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o problema antes de tocar no dado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6420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fase não produz gráfico: produz uma pergunta. O papel da ferramenta aqui é acelerar o diálogo com quem conhece o negócio.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395728"/>
            <a:ext cx="11057839" cy="1051560"/>
          </a:xfrm>
          <a:prstGeom prst="roundRect">
            <a:avLst>
              <a:gd name="adj" fmla="val 6957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" y="263347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7824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408176" y="2606040"/>
            <a:ext cx="9795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 descartável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08176" y="2916936"/>
            <a:ext cx="979596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Dash, um painel provisório fica pronto em minutos. Mostrar um rascunho a quem decide revela desacordos que uma reunião não revelaria.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602736"/>
            <a:ext cx="11057839" cy="1051560"/>
          </a:xfrm>
          <a:prstGeom prst="roundRect">
            <a:avLst>
              <a:gd name="adj" fmla="val 6957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" y="38404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408176" y="3813048"/>
            <a:ext cx="9795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de KPIs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4123944"/>
            <a:ext cx="979596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Tentar desenhar o indicador força a pergunta difícil: o que exatamente contamos como cancelamento? A partir de quando?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809744"/>
            <a:ext cx="11057839" cy="1051560"/>
          </a:xfrm>
          <a:prstGeom prst="roundRect">
            <a:avLst>
              <a:gd name="adj" fmla="val 6957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7824" y="504748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7824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5020056"/>
            <a:ext cx="9795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da decisão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408176" y="5330952"/>
            <a:ext cx="979596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ser código, a definição do KPI fica versionada. Seis meses depois dá para saber por que o número mudou.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016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Nosso objetivo de negócio:  reduzir a taxa de cancelamento de reservas, identificando quais características se associam ao cancelamento.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2 — Compreensão dos Dados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Extração e análise exploratória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4592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Extração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66928" y="2048256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0F3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224942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pd.read_csv(URL)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63347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pandas é o conector. Lê CSV, Excel, JSON, SQL, Parquet e APIs — qualquer fonte que o Python alcance, o Plotly desenha.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65760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exploratória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4059936"/>
            <a:ext cx="5257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px.histogram  — distribuição de uma variável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px.box  — dispersão e valores atípicos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px.imshow  — matriz de correlação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df.isna()  — mapa de valores ausentes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92240" y="1645920"/>
            <a:ext cx="5138928" cy="4160520"/>
          </a:xfrm>
          <a:prstGeom prst="roundRect">
            <a:avLst>
              <a:gd name="adj" fmla="val 1758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0" y="187452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Equivalência com o Power Query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2304288"/>
            <a:ext cx="4389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Power BI traz os painéis “Qualidade da Coluna” e “Perfil da Coluna”, que mostram visualmente quanto falta e como o dado se distribui.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Plotly esse diagnóstico é escrito, não clicado. Custa mais linhas — e entrega duas coisas que o painel não dá: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 critério fica explícito e discutível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 análise roda igual na próxima carga de dados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3 — Preparação dos Dados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Limpeza, engenharia de features e carga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3472586" cy="2286000"/>
          </a:xfrm>
          <a:prstGeom prst="roundRect">
            <a:avLst>
              <a:gd name="adj" fmla="val 3200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" y="2011680"/>
            <a:ext cx="457200" cy="457200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77824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615184"/>
            <a:ext cx="2850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Limpeza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980944"/>
            <a:ext cx="28507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fillna, replace e filtros por condição. Cada decisão fica escrita em uma linha que se pode ler e contestar.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59554" y="1737360"/>
            <a:ext cx="3472586" cy="2286000"/>
          </a:xfrm>
          <a:prstGeom prst="roundRect">
            <a:avLst>
              <a:gd name="adj" fmla="val 3200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70450" y="201168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7045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670450" y="2615184"/>
            <a:ext cx="2850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de features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70450" y="2980944"/>
            <a:ext cx="28507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 novas são atribuições diretas. Equivale à “Coluna Condicional” do Power Query ou ao “Campo Calculado” do Tableau.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52181" y="1737360"/>
            <a:ext cx="3472586" cy="2286000"/>
          </a:xfrm>
          <a:prstGeom prst="roundRect">
            <a:avLst>
              <a:gd name="adj" fmla="val 3200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3077" y="20116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63077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463077" y="2615184"/>
            <a:ext cx="2850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Formatação e carga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463077" y="2980944"/>
            <a:ext cx="28507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astype define o tipo; to_csv ou to_parquet finalizam. O resultado alimenta o dashboard e qualquer modelo posterior.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4261104"/>
            <a:ext cx="11057839" cy="1481328"/>
          </a:xfrm>
          <a:prstGeom prst="roundRect">
            <a:avLst>
              <a:gd name="adj" fmla="val 4938"/>
            </a:avLst>
          </a:prstGeom>
          <a:solidFill>
            <a:srgbClr val="FDF1EC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2688" y="4462272"/>
            <a:ext cx="103263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diferença que mais pesa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" y="4791456"/>
            <a:ext cx="1032631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Power BI a transformação acontece no Power Query e fica gravada dentro do arquivo .pbix — um binário que o Git não sabe comparar. Aqui o pipeline inteiro é texto: cada alteração aparece no diff, e qualquer integrante consegue revisar o que mudou e por quê.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F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828800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154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Estudo de caso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041648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119.390 reservas de dois hotéis em Portugal, entre julho de 2015 e agosto de 2017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 e o dataset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Booking Demand — publicado em artigo revisado por pares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11057839" cy="1325880"/>
          </a:xfrm>
          <a:prstGeom prst="roundRect">
            <a:avLst>
              <a:gd name="adj" fmla="val 5517"/>
            </a:avLst>
          </a:prstGeom>
          <a:solidFill>
            <a:srgbClr val="FDF1EC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8288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negócio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157984"/>
            <a:ext cx="103263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a taxa de cancelamento de reservas, identificando quais características da reserva e do cliente mais se associam ao cancelamento — para que a rede possa antecipar e agir.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2558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119.390</a:t>
            </a:r>
            <a:endParaRPr lang="en-US" sz="42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986784"/>
            <a:ext cx="255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reservas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(mínimo exigido: 1.000)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399968" y="3291840"/>
            <a:ext cx="2558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4200" dirty="0"/>
          </a:p>
        </p:txBody>
      </p:sp>
      <p:sp>
        <p:nvSpPr>
          <p:cNvPr id="10" name="Text 8"/>
          <p:cNvSpPr txBox="1"/>
          <p:nvPr/>
        </p:nvSpPr>
        <p:spPr>
          <a:xfrm>
            <a:off x="3399968" y="3986784"/>
            <a:ext cx="255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(mínimo exigido: 5)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33008" y="3291840"/>
            <a:ext cx="2558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200" dirty="0"/>
          </a:p>
        </p:txBody>
      </p:sp>
      <p:sp>
        <p:nvSpPr>
          <p:cNvPr id="12" name="Text 10"/>
          <p:cNvSpPr txBox="1"/>
          <p:nvPr/>
        </p:nvSpPr>
        <p:spPr>
          <a:xfrm>
            <a:off x="6233008" y="3986784"/>
            <a:ext cx="255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 com valores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ausentes, em 4 níveis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066047" y="3291840"/>
            <a:ext cx="2558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37%</a:t>
            </a:r>
            <a:endParaRPr lang="en-US" sz="4200" dirty="0"/>
          </a:p>
        </p:txBody>
      </p:sp>
      <p:sp>
        <p:nvSpPr>
          <p:cNvPr id="14" name="Text 12"/>
          <p:cNvSpPr txBox="1"/>
          <p:nvPr/>
        </p:nvSpPr>
        <p:spPr>
          <a:xfrm>
            <a:off x="9066047" y="3986784"/>
            <a:ext cx="255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reservas foram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canceladas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5029200"/>
            <a:ext cx="11057839" cy="960120"/>
          </a:xfrm>
          <a:prstGeom prst="roundRect">
            <a:avLst>
              <a:gd name="adj" fmla="val 7619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" y="5230368"/>
            <a:ext cx="103263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Kaggle · Publicação original: Antonio, Almeida &amp; Nunes (2019), Data in Brief 22, 41–49 · Licença CC0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932688" y="5522976"/>
            <a:ext cx="103263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Escolhido por ter ausência de dados em quatro intensidades diferentes — o que obriga a quatro decisões distintas.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Diagnóstico: onde faltam dados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equivalente ao painel “Qualidade da Coluna”, feito em código</a:t>
            </a:r>
            <a:endParaRPr lang="en-US" sz="1400" dirty="0"/>
          </a:p>
        </p:txBody>
      </p:sp>
      <p:pic>
        <p:nvPicPr>
          <p:cNvPr id="4" name="Image 0" descr="C:\Users\Lucas\OneDrive - Católica SC\Documentos\Data Science\n1-ciencia-dados-plotly\docs\prints\01_valores_ausent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600200"/>
            <a:ext cx="6858000" cy="1828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80960" y="1600200"/>
            <a:ext cx="3950208" cy="4370832"/>
          </a:xfrm>
          <a:prstGeom prst="roundRect">
            <a:avLst>
              <a:gd name="adj" fmla="val 1852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01000" y="181051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níveis, quatro decisões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001000" y="228600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company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9601200" y="228600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94,3%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254203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Remover a coluna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001000" y="29443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601200" y="294436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13,7%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2004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0 = sem agência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360273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country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9601200" y="360273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0,4%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385876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 “Desconhecido”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426110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children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9601200" y="426110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registros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001000" y="4517136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Preencher com zero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8001000" y="4974336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Ausência não é sempre erro. Em agent, o vazio significa “reserva sem intermediário” — é informação. Preencher com a média destruiria esse significado.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3611880"/>
            <a:ext cx="6858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gráfico responde “quanto falta”. A tabela ao lado responde “o que fazer” — e é a justificativa, não o percentual, que decide a estratégia.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6858000" cy="1581912"/>
          </a:xfrm>
          <a:prstGeom prst="roundRect">
            <a:avLst>
              <a:gd name="adj" fmla="val 4624"/>
            </a:avLst>
          </a:prstGeom>
          <a:solidFill>
            <a:srgbClr val="F0F3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86968" y="457200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diagnóstico inteiro, em três linhas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86968" y="4901184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ausentes = df.isna().sum()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ausentes = ausentes[ausentes &gt; 0].sort_values(ascending=False)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px.bar(ausentes, orientation="h")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exploratória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se cancela mais, e quando a reserva foi feita</a:t>
            </a:r>
            <a:endParaRPr lang="en-US" sz="1400" dirty="0"/>
          </a:p>
        </p:txBody>
      </p:sp>
      <p:pic>
        <p:nvPicPr>
          <p:cNvPr id="4" name="Image 0" descr="C:\Users\Lucas\OneDrive - Católica SC\Documentos\Data Science\n1-ciencia-dados-plotly\docs\prints\02_cancelamento_por_hot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645920"/>
            <a:ext cx="5376672" cy="3200400"/>
          </a:xfrm>
          <a:prstGeom prst="rect">
            <a:avLst/>
          </a:prstGeom>
        </p:spPr>
      </p:pic>
      <p:pic>
        <p:nvPicPr>
          <p:cNvPr id="5" name="Image 1" descr="C:\Users\Lucas\OneDrive - Católica SC\Documentos\Data Science\n1-ciencia-dados-plotly\docs\prints\03_lead_time_por_situaca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45352" y="1645920"/>
            <a:ext cx="5376672" cy="32004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66928" y="4983480"/>
            <a:ext cx="5376672" cy="1234440"/>
          </a:xfrm>
          <a:prstGeom prst="roundRect">
            <a:avLst>
              <a:gd name="adj" fmla="val 5926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1248" y="5138928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hotel urbano cancela 1,5× mais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841248" y="5449824"/>
            <a:ext cx="4828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41,7% contra 27,8% do resort — diferença grande demais para ser acaso.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245352" y="4983480"/>
            <a:ext cx="5376672" cy="1234440"/>
          </a:xfrm>
          <a:prstGeom prst="roundRect">
            <a:avLst>
              <a:gd name="adj" fmla="val 5926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19672" y="5138928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Reservas antigas cancelam mais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6519672" y="5449824"/>
            <a:ext cx="4828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113 dias entre as canceladas, contra 45 das mantidas.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e hipóteses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 move junto com o cancelamento</a:t>
            </a:r>
            <a:endParaRPr lang="en-US" sz="1400" dirty="0"/>
          </a:p>
        </p:txBody>
      </p:sp>
      <p:pic>
        <p:nvPicPr>
          <p:cNvPr id="4" name="Image 0" descr="C:\Users\Lucas\OneDrive - Católica SC\Documentos\Data Science\n1-ciencia-dados-plotly\docs\prints\04_correlaca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600200"/>
            <a:ext cx="6675120" cy="3931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98080" y="1600200"/>
            <a:ext cx="4133088" cy="1920240"/>
          </a:xfrm>
          <a:prstGeom prst="roundRect">
            <a:avLst>
              <a:gd name="adj" fmla="val 3810"/>
            </a:avLst>
          </a:prstGeom>
          <a:solidFill>
            <a:srgbClr val="FDF1EC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18120" y="17830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Hipótese 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1031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Reservas com maior antecedência cancelam mais.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688336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Confirmada:  r = +0,293, a maior correlação positiva da matriz.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498080" y="3657600"/>
            <a:ext cx="4133088" cy="1874520"/>
          </a:xfrm>
          <a:prstGeom prst="roundRect">
            <a:avLst>
              <a:gd name="adj" fmla="val 3902"/>
            </a:avLst>
          </a:prstGeom>
          <a:solidFill>
            <a:srgbClr val="EEF3FC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18120" y="38404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Hipótese 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41605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Hóspedes que fazem pedidos especiais cancelam menos.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45736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Confirmada:  r = −0,235. O pedido funciona como sinal de compromisso.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400800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divergente com cinza no centro: o zero precisa parecer ausência de relação, não um valor qualquer.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pipeline de preparação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etapas — as três exigidas pelo enunciado em destaque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3503066" cy="1463040"/>
          </a:xfrm>
          <a:prstGeom prst="roundRect">
            <a:avLst>
              <a:gd name="adj" fmla="val 5000"/>
            </a:avLst>
          </a:prstGeom>
          <a:solidFill>
            <a:srgbClr val="FDF1EC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975104"/>
            <a:ext cx="402336" cy="402336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75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698394" y="20299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8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EXIGIDA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468880"/>
            <a:ext cx="29544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ausentes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761488"/>
            <a:ext cx="29544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estratégias, uma por coluna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4314" y="1737360"/>
            <a:ext cx="3503066" cy="146304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8634" y="197510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18634" y="1975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18634" y="2468880"/>
            <a:ext cx="29544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inconsistentes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18634" y="2761488"/>
            <a:ext cx="29544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meal: “Undefined” e “SC” unificados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21701" y="1737360"/>
            <a:ext cx="3503066" cy="146304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96021" y="197510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96021" y="1975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396021" y="2468880"/>
            <a:ext cx="29544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inválidos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396021" y="2761488"/>
            <a:ext cx="29544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 linhas (0,15%): sem hóspede ou diária absurda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3401568"/>
            <a:ext cx="3503066" cy="1463040"/>
          </a:xfrm>
          <a:prstGeom prst="roundRect">
            <a:avLst>
              <a:gd name="adj" fmla="val 5000"/>
            </a:avLst>
          </a:prstGeom>
          <a:solidFill>
            <a:srgbClr val="FDF1EC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1248" y="3639312"/>
            <a:ext cx="402336" cy="402336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41248" y="3639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698394" y="369417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8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EXIGIDA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841248" y="4133088"/>
            <a:ext cx="29544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de features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841248" y="4425696"/>
            <a:ext cx="29544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colunas novas, entre elas receita_estimada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344314" y="3401568"/>
            <a:ext cx="3503066" cy="1463040"/>
          </a:xfrm>
          <a:prstGeom prst="roundRect">
            <a:avLst>
              <a:gd name="adj" fmla="val 5000"/>
            </a:avLst>
          </a:prstGeom>
          <a:solidFill>
            <a:srgbClr val="FDF1EC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8634" y="3639312"/>
            <a:ext cx="402336" cy="402336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618634" y="3639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475781" y="369417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8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EXIGIDA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618634" y="4133088"/>
            <a:ext cx="29544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Remoção de colunas</a:t>
            </a:r>
            <a:endParaRPr lang="en-US" sz="1450" dirty="0"/>
          </a:p>
        </p:txBody>
      </p:sp>
      <p:sp>
        <p:nvSpPr>
          <p:cNvPr id="31" name="Text 29"/>
          <p:cNvSpPr txBox="1"/>
          <p:nvPr/>
        </p:nvSpPr>
        <p:spPr>
          <a:xfrm>
            <a:off x="4618634" y="4425696"/>
            <a:ext cx="29544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removidas — uma por vazamento de dados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121701" y="3401568"/>
            <a:ext cx="3503066" cy="146304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6021" y="363931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396021" y="3639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396021" y="4133088"/>
            <a:ext cx="29544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e carga</a:t>
            </a:r>
            <a:endParaRPr lang="en-US" sz="1450" dirty="0"/>
          </a:p>
        </p:txBody>
      </p:sp>
      <p:sp>
        <p:nvSpPr>
          <p:cNvPr id="36" name="Text 34"/>
          <p:cNvSpPr txBox="1"/>
          <p:nvPr/>
        </p:nvSpPr>
        <p:spPr>
          <a:xfrm>
            <a:off x="8396021" y="4425696"/>
            <a:ext cx="29544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para category: 98,5 MB para 22,4 MB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66928" y="5084064"/>
            <a:ext cx="11057839" cy="91440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32688" y="5358384"/>
            <a:ext cx="103263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 119.390 → 119.208 linhas  ·  129.425 células ausentes → zero  ·  memória reduzida em 77%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1F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5836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achado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241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coluna que não devia estar ali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83080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cruzar reservation_status com a variável-alvo is_canceled, a correspondência é perfeita: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6035040" cy="566928"/>
          </a:xfrm>
          <a:prstGeom prst="roundRect">
            <a:avLst>
              <a:gd name="adj" fmla="val 9677"/>
            </a:avLst>
          </a:prstGeom>
          <a:solidFill>
            <a:srgbClr val="25316B"/>
          </a:solidFill>
          <a:ln w="12700">
            <a:solidFill>
              <a:srgbClr val="37458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24688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Check-Out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78608" y="246888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990088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is_canceled = 0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138928" y="24688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75.166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3026664"/>
            <a:ext cx="6035040" cy="566928"/>
          </a:xfrm>
          <a:prstGeom prst="roundRect">
            <a:avLst>
              <a:gd name="adj" fmla="val 9677"/>
            </a:avLst>
          </a:prstGeom>
          <a:solidFill>
            <a:srgbClr val="25316B"/>
          </a:solidFill>
          <a:ln w="12700">
            <a:solidFill>
              <a:srgbClr val="37458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316382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Canceled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578608" y="316382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990088" y="316382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is_canceled = 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138928" y="316382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43.017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3721608"/>
            <a:ext cx="6035040" cy="566928"/>
          </a:xfrm>
          <a:prstGeom prst="roundRect">
            <a:avLst>
              <a:gd name="adj" fmla="val 9677"/>
            </a:avLst>
          </a:prstGeom>
          <a:solidFill>
            <a:srgbClr val="25316B"/>
          </a:solidFill>
          <a:ln w="12700">
            <a:solidFill>
              <a:srgbClr val="3745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" y="385876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No-Show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578608" y="385876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990088" y="3858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is_canceled = 1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138928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1.207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040880" y="233172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isso é grave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7040880" y="2743200"/>
            <a:ext cx="4572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coluna não ajuda a prever o cancelamento: ela é o cancelamento, escrito com outro nome.</a:t>
            </a:r>
            <a:endParaRPr lang="en-US" sz="1300" dirty="0"/>
          </a:p>
          <a:p>
            <a:pPr indent="0" marL="0">
              <a:lnSpc>
                <a:spcPct val="132000"/>
              </a:lnSpc>
              <a:buNone/>
            </a:pPr>
            <a:endParaRPr lang="en-US" sz="13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passa a existir depois que o desfecho aconteceu — exatamente quando a previsão já não serve para nada.</a:t>
            </a:r>
            <a:endParaRPr lang="en-US" sz="1300" dirty="0"/>
          </a:p>
          <a:p>
            <a:pPr indent="0" marL="0">
              <a:lnSpc>
                <a:spcPct val="132000"/>
              </a:lnSpc>
              <a:buNone/>
            </a:pPr>
            <a:endParaRPr lang="en-US" sz="13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Mantê-la produziria um modelo com 100% de acerto e utilidade zero. É o erro chamado vazamento de dados, e ele engana justamente porque o resultado parece excelente.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484632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9FB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Removida junto com reservation_status_date, pelo mesmo motivo: é a data do desfecho.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e depois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mudou do dado bruto ao dado preparado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1057839" cy="3200400"/>
          </a:xfrm>
          <a:prstGeom prst="roundRect">
            <a:avLst>
              <a:gd name="adj" fmla="val 2286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691640"/>
            <a:ext cx="91440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 txBox="1"/>
          <p:nvPr/>
        </p:nvSpPr>
        <p:spPr>
          <a:xfrm>
            <a:off x="4133088" y="1920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327648" y="1920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522208" y="1920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78408" y="239572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133088" y="239572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119.390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327648" y="239572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119.208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522208" y="239572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−182 registros inválidos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978408" y="29626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133088" y="296265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327648" y="296265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522208" y="296265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saíram, 6 entraram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978408" y="3529584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Células ausentes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133088" y="352958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129.425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27648" y="352958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522208" y="352958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tratadas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78408" y="409651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133088" y="409651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98,5 MB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327648" y="409651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22,4 MB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522208" y="409651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−77%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66928" y="5074920"/>
            <a:ext cx="11057839" cy="1005840"/>
          </a:xfrm>
          <a:prstGeom prst="roundRect">
            <a:avLst>
              <a:gd name="adj" fmla="val 7273"/>
            </a:avLst>
          </a:prstGeom>
          <a:solidFill>
            <a:srgbClr val="FDF1EC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32688" y="5321808"/>
            <a:ext cx="103263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 ao número de colunas: 32 antes e 32 depois é coincidência, não ausência de mudança. Seis colunas saíram e seis entraram.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exploratório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painéis, todos usando colunas que só existem depois da preparação</a:t>
            </a:r>
            <a:endParaRPr lang="en-US" sz="1400" dirty="0"/>
          </a:p>
        </p:txBody>
      </p:sp>
      <p:pic>
        <p:nvPicPr>
          <p:cNvPr id="4" name="Image 0" descr="C:\Users\Lucas\OneDrive - Católica SC\Documentos\Data Science\n1-ciencia-dados-plotly\docs\prints\05_dashboard_explorator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572768"/>
            <a:ext cx="7635240" cy="4160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58200" y="1691640"/>
            <a:ext cx="3172968" cy="1243584"/>
          </a:xfrm>
          <a:prstGeom prst="roundRect">
            <a:avLst>
              <a:gd name="adj" fmla="val 5882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732520" y="183794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 → 57%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732520" y="22585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taxa sobe de forma contínua com a antecedência da reserva.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458200" y="3081528"/>
            <a:ext cx="3172968" cy="1243584"/>
          </a:xfrm>
          <a:prstGeom prst="roundRect">
            <a:avLst>
              <a:gd name="adj" fmla="val 5882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732520" y="322783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99%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8732520" y="36484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Reservas não reembolsáveis cancelam quase sempre — resultado contraintuitivo.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458200" y="4471416"/>
            <a:ext cx="3172968" cy="1243584"/>
          </a:xfrm>
          <a:prstGeom prst="roundRect">
            <a:avLst>
              <a:gd name="adj" fmla="val 5882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732520" y="461772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61%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732520" y="503834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segmento Groups é o que mais cancela: é por onde começar a agir.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458200" y="5870448"/>
            <a:ext cx="3172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o depósito: é correlação, não causa. O hotel provavelmente exige depósito justamente das reservas que já considera arriscadas.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1F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828800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154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crítica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041648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abordagem em código entrega — e onde uma ferramenta de BI fechada ganha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Plotly e Dash vs. ferramenta de BI fechada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honesta — cada abordagem ganha em coisas diferentes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11057839" cy="566928"/>
          </a:xfrm>
          <a:prstGeom prst="roundRect">
            <a:avLst>
              <a:gd name="adj" fmla="val 12903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86968" y="18836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 inicial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3675888" y="1883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Perde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77316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cliques no Power BI equivalem a trinta linhas aqui.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2377440"/>
            <a:ext cx="11057839" cy="566928"/>
          </a:xfrm>
          <a:prstGeom prst="roundRect">
            <a:avLst>
              <a:gd name="adj" fmla="val 12903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86968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de aprendizado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675888" y="25237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773168" y="252374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Exige Python e pandas. Não é ferramenta para quem não programa.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017520"/>
            <a:ext cx="11057839" cy="566928"/>
          </a:xfrm>
          <a:prstGeom prst="roundRect">
            <a:avLst>
              <a:gd name="adj" fmla="val 12903"/>
            </a:avLst>
          </a:prstGeom>
          <a:solidFill>
            <a:srgbClr val="EEF3FC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6968" y="31638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Flexibilidade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675888" y="31638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Ganha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773168" y="316382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transformação que o Python expressa, sem esperar recurso da ferramenta.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657600"/>
            <a:ext cx="11057839" cy="566928"/>
          </a:xfrm>
          <a:prstGeom prst="roundRect">
            <a:avLst>
              <a:gd name="adj" fmla="val 12903"/>
            </a:avLst>
          </a:prstGeom>
          <a:solidFill>
            <a:srgbClr val="EEF3FC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86968" y="38039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Reprodutibilidade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3675888" y="38039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Ganha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773168" y="380390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pipeline é texto versionado. O .pbix é binário: o Git não compara.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297680"/>
            <a:ext cx="11057839" cy="566928"/>
          </a:xfrm>
          <a:prstGeom prst="roundRect">
            <a:avLst>
              <a:gd name="adj" fmla="val 12903"/>
            </a:avLst>
          </a:prstGeom>
          <a:solidFill>
            <a:srgbClr val="EEF3FC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86968" y="44439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em equipe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3675888" y="44439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Ganha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773168" y="444398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pessoas editam e revisam por diff. Um .pbix não abre em duas mãos.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4937760"/>
            <a:ext cx="11057839" cy="566928"/>
          </a:xfrm>
          <a:prstGeom prst="roundRect">
            <a:avLst>
              <a:gd name="adj" fmla="val 12903"/>
            </a:avLst>
          </a:prstGeom>
          <a:solidFill>
            <a:srgbClr val="EEF3FC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86968" y="50840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3675888" y="50840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Ganha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4773168" y="50840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Licença MIT, sem custo por usuário.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577840"/>
            <a:ext cx="11057839" cy="566928"/>
          </a:xfrm>
          <a:prstGeom prst="roundRect">
            <a:avLst>
              <a:gd name="adj" fmla="val 12903"/>
            </a:avLst>
          </a:prstGeom>
          <a:solidFill>
            <a:srgbClr val="F4F6FA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86968" y="57241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 corporativa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3675888" y="57241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Perde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4773168" y="572414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catálogo, sem permissão por linha, sem portal de distribuição.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2636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escolha não é entre ferramenta boa e ruim: é entre otimizar para rapidez de montagem ou para controle e reprodutibilidade.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61F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777240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Conclusão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66928" y="1691640"/>
            <a:ext cx="457200" cy="457200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167335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Plotly cobre as três fases, por um caminho diferente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25296" y="2039112"/>
            <a:ext cx="10378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limpeza acontece no pandas e o Plotly visualiza o resultado. Não há um Power Query embutido — e admitir isso é parte da análise.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2990088"/>
            <a:ext cx="457200" cy="457200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2990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25296" y="297180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justificativa vale mais que a técnica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25296" y="3337560"/>
            <a:ext cx="10378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Remover uma coluna por vazamento de dados exigiu entender o problema, não a ferramenta. Nenhum menu sugere essa decisão.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4288536"/>
            <a:ext cx="457200" cy="457200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25296" y="427024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é mais lento para começar e mais barato para manter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25296" y="4636008"/>
            <a:ext cx="10378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Custou mais linhas montar. Em compensação, o pipeline inteiro se reconstrói sozinho a partir da fonte original.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5532120"/>
            <a:ext cx="11057839" cy="841248"/>
          </a:xfrm>
          <a:prstGeom prst="roundRect">
            <a:avLst>
              <a:gd name="adj" fmla="val 8696"/>
            </a:avLst>
          </a:prstGeom>
          <a:solidFill>
            <a:srgbClr val="25316B"/>
          </a:solidFill>
          <a:ln w="12700">
            <a:solidFill>
              <a:srgbClr val="3745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" y="5742432"/>
            <a:ext cx="103263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Limitação que encontramos:  o Plotly não substitui uma plataforma de BI em ambiente corporativo — falta governança, catálogo e distribuição. Ele resolve outro problema.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Aplicação Prática do Plotly nas Fases Iniciais do CRISP-DM</dc:title>
  <dc:subject>PptxGenJS Presentation</dc:subject>
  <dc:creator>Henrique Cordeiro de Oliveira, Lucas Mendonça, Victor Kunz, Nicholas Scoz, Kauã Lucindo</dc:creator>
  <cp:lastModifiedBy>Henrique Cordeiro de Oliveira, Lucas Mendonça, Victor Kunz, Nicholas Scoz, Kauã Lucindo</cp:lastModifiedBy>
  <cp:revision>1</cp:revision>
  <dcterms:created xsi:type="dcterms:W3CDTF">2026-09-15T14:41:12Z</dcterms:created>
  <dcterms:modified xsi:type="dcterms:W3CDTF">2026-09-15T14:41:12Z</dcterms:modified>
</cp:coreProperties>
</file>