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a ferramenta. Deixar claro desde já que o Plotly não é uma plataforma de BI tradicional como o Power BI — é uma biblioteca de visualização com um ecossistema em volta. Essa diferença é o fio condutor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rápido da apresentação. Não gastar mais que 20 segundos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principal: um núcleo em JavaScript, várias linguagens por cima. É por isso que o gráfico é interativo por padrão — ele é web nativo, não uma imagem gerada.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'Plotly' no singular é impreciso — é um conjunto de camadas. O Chart Studio é a camada low-code, e é ela que aproxima o Plotly de uma ferramenta de BI tradicional.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antecipa a pergunta óbvia do professor. Dizer com todas as letras: o Plotly não está no quadrante porque não é uma plataforma de BI. Admitir isso dá credibilidade ao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parte conceitual do mapeamento.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central: nesta fase a ferramenta serve para prototipar rápido e alinhar. O código como registro da definição do KPI é um argumento que volta na Parte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mostramos o notebook ao vivo. Abrir o 01 e passar o mouse num gráfico para demonstrar o tooltip.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no Plotly a limpeza é feita pelo pandas; o Plotly visualiza o resultado. Dizer isso abertamente — é uma diferença arquitetural real em relação ao Power Query, que integra as duas coisas.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o dataset vem de artigo acadêmico, não é só 'peguei no Kaggle'. E que ele supera com folga os mínimos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abrir o Colab ao vivo e rodar esta célula: são poucos segundos e prova que o notebook roda do zero, sem arquivo local. Se perguntarem pelos conectores: o Plotly não tem conector próprio, ele desenha o que o pandas trouxe — dizer isso abertamente.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slide-chave da Fase 3. A pergunta que o professor pode fazer: por que estratégias diferentes? Resposta: porque o motivo da ausência é diferente em cada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demonstrar a interatividade: passar o mouse nas caixas do box plot para mostrar quartis, e clicar na legenda para ocultar uma série.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a escala é divergente e o meio é cinza — foi escolha deliberada de visualização, não padrão da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Aviso importante: o número de colunas é 32 antes e 32 depois. É coincidência — seis saíram e seis entraram. Falar isso antes que alguém pergunte. A faixa de código embaixo cobre a segunda transformação exigida pelo enunciado: a criação de uma nova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forte da apresentação. A justificativa de remoção por vazamento é muito mais sólida que 'a coluna tem 94% de ausência'. Se houver uma pergunta difícil, provavelmente vem daqui.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 pergunta sobre as 32 colunas. Listar rapidamente as seis criadas: total_noites, total_hospedes, tem_criancas, receita_estimada, faixa_antecedencia e data_chegada.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rodar o dashboard em Dash ao vivo: aplicar o filtro de City Hotel e mostrar os indicadores mudando. Se a internet falhar, abrir o HTML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parte mais avaliada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comparativo que o enunciado pede nominalmente: a abordagem da ferramenta contra a abordagem code-first da atividade anterior. O ponto a fazer em voz alta: trocamos seaborn por Plotly e ganhamos interatividade e dashboard, mas a etapa de preparação ficou idêntica — o que prova que o Plotly não é um Power Query, é a camada de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vender o Plotly como superior. As três 'perdas' são reais e reconhecê-las é o que dá peso às vitórias. Se perguntarem qual usaríamos numa empresa: depende de quem vai manter o painel. O enunciado pede a comparação da camada low-code da ferramenta — no Plotly essa camada é o Chart Studio, e é o que a frase de baixo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reconhecendo a limitação. Isso costuma valer mais do que uma conclusão triunfalista.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N1 · Ciência de Dados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36192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 do Plotly nas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Iniciais do CRISP-DM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3101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estudo de caso sobre cancelamento de reservas de hotel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24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BI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480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42245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48056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Cordeiro de Oliveira · Lucas Mendonça · Victor Kunz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Scoz · Kauã Lucindo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Católica de Santa Catarina · Prof. Dr. Claudinei Dias (Ney)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partes, do conceito à crítica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7839" cy="1207008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231136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066544"/>
            <a:ext cx="95947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2432304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Plotly, como se organiza, e como cada funcionalidade sustenta as três primeiras fases do CRISP-DM.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246120"/>
            <a:ext cx="11057839" cy="1207008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3648456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18488" y="3483864"/>
            <a:ext cx="95947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prático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18488" y="3849624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mil reservas de hotel: exploração, limpeza, engenharia de features e um dashboard interativo.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663440"/>
            <a:ext cx="11057839" cy="1207008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5065776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4901184"/>
            <a:ext cx="95947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5266944"/>
            <a:ext cx="9594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Plotly faz melhor que uma ferramenta de BI fechada — e o que faz pior.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Plotly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visualização open-source, fundada em 2013 em Montreal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Plotly nasceu como uma biblioteca JavaScript de gráficos e cresceu até virar um ecossistema completo de análise. O núcleo — plotly.js — é o mesmo que roda por baixo das bibliotecas para Python, R e Julia, o que explica por que o gráfico sai idêntico em qualquer linguagem.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software livre sob licença MIT, mantido por uma empresa que monetiza a versão corporativa do Dash. Isso importa: não há custo de licença para o que usamos aqui.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691640"/>
            <a:ext cx="4315968" cy="3931920"/>
          </a:xfrm>
          <a:prstGeom prst="roundRect">
            <a:avLst>
              <a:gd name="adj" fmla="val 186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99248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699248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fundação, em Montreal (Canadá)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99248" y="30540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699248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livre — sem custo de uso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99248" y="41696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699248" y="4864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sobre o mesmo núcleo: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Python, R e Julia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937760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Interatividade não é um extra: todo gráfico nasce com zoom, seleção, legenda clicável e exportação.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400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plotly.com · repositório oficial no GitHub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e arquitetura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camadas — usamos quatro delas neste trabalho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plotly.js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671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motor. Biblioteca JavaScript que desenha e torna interativo cada gráfico.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002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880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0815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alto nível: um gráfico completo em uma linha de código.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2916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58444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Objects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9959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fino, para quando o Express não alcança. Usado no dashboard.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831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49884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4709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9103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transformar gráficos em aplicação web com filtros.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4745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413248"/>
            <a:ext cx="11057839" cy="804672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5623560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5532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Studio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5824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visual no navegador: sobe CSV e monta gráfico sem escrever código.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5660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Posicionamento de mercado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Plotly não aparece no Quadrante Mágico do Gartner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38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ausência é proposital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7744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Quadrante Mágico de Analytics and BI Platforms avalia plataformas completas: governança, catálogo de dados, modelagem, distribuição corporativa.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Plotly não concorre nessa categoria. Ele é uma biblioteca de visualização — compará-lo ao Power BI é como comparar um motor a um carro.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isso é mais honesto do que forçar um enquadramento que não existe.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556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e casos de uso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2267712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004304" y="22494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ciência de dados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04304" y="252374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trabalha em Python e precisa de gráfico interativo no notebook.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3127248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04304" y="31089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analíticas sob medida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338328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com regra de negócio que uma ferramenta fechada não expressa.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986784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04304" y="396849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 dados embutidos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424281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dentro de um sistema próprio, não num portal de BI separado.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4846320"/>
            <a:ext cx="347472" cy="3474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48280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publicação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510235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reproduzíveis, versionadas junto com o código que as gera.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00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Magic Quadrant for Analytics and Business Intelligence Platforms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54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e o Plotly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4164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funcionalidade da ferramenta sustenta as três primeiras fases da metodologia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Compreensão do Negócio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problema antes de tocar no dado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fase não produz gráfico: produz uma pergunta. O papel da ferramenta aqui é acelerar o diálogo com quem conhece o negócio.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633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606040"/>
            <a:ext cx="9795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descartável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916936"/>
            <a:ext cx="97959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Dash, um painel provisório fica pronto em minutos. Mostrar um rascunho a quem decide revela desacordos que uma reunião não revelaria.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602736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813048"/>
            <a:ext cx="9795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KPIs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4123944"/>
            <a:ext cx="97959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desenhar o indicador força a pergunta difícil: o que exatamente contamos como cancelamento? A partir de quando?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809744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5047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7824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5020056"/>
            <a:ext cx="9795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 decisão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5330952"/>
            <a:ext cx="97959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 código, a definição do KPI fica versionada. Seis meses depois dá para saber por que o número mudou.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16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objetivo de negócio:  reduzir a taxa de cancelamento de reservas, identificando quais características se associam ao cancelamento.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Compreensão dos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e análise exploratória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2494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334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pandas é o conector. Lê CSV, Excel, JSON, SQL, Parquet e APIs — qualquer fonte que o Python alcance, o Plotly desenha.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6576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4059936"/>
            <a:ext cx="5257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— estatísticas descritivas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 — tipos de dado e contagem de não nulos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px.box  — distribuição, dispersão e valores atípicos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px.imshow  — matriz de correlação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df.isna() + px.bar  — mapa visual de ausentes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8745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com o Power Query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304288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Power BI traz os painéis “Qualidade da Coluna” e “Perfil da Coluna”, que mostram visualmente quanto falta e como o dado se distribui.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Plotly esse diagnóstico é escrito, não clicado. Custa mais linhas — e entrega duas coisas que o painel não dá: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critério fica explícito e discutível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análise roda igual na próxima carga de dados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Preparação dos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engenharia de features e carga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72586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1168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15184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80944"/>
            <a:ext cx="28507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fillna, replace e filtros por condição. Cada decisão fica escrita em uma linha que se pode ler e contestar.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9554" y="1737360"/>
            <a:ext cx="3472586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0450" y="201168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045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70450" y="2615184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features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70450" y="2980944"/>
            <a:ext cx="28507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novas são atribuições diretas. Equivale à “Coluna Condicional” do Power Query ou ao “Campo Calculado” do Tableau.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2181" y="1737360"/>
            <a:ext cx="3472586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3077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307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63077" y="2615184"/>
            <a:ext cx="2850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e carga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63077" y="2980944"/>
            <a:ext cx="28507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 define o tipo; to_csv ou to_parquet finalizam. O resultado alimenta o dashboard e qualquer modelo posterior.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61104"/>
            <a:ext cx="11057839" cy="1481328"/>
          </a:xfrm>
          <a:prstGeom prst="roundRect">
            <a:avLst>
              <a:gd name="adj" fmla="val 4938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4462272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que mais pesa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791456"/>
            <a:ext cx="10326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 BI a transformação acontece no Power Query e fica gravada dentro do arquivo .pbix — um binário que o Git não sabe comparar. Aqui o pipeline inteiro é texto: cada alteração aparece no diff, e qualquer integrante consegue revisar o que mudou e por quê.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54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4164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119.390 reservas de dois hotéis em Portugal, entre julho de 2015 e agosto de 2017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o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— publicado em artigo revisado por pares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325880"/>
          </a:xfrm>
          <a:prstGeom prst="roundRect">
            <a:avLst>
              <a:gd name="adj" fmla="val 5517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negócio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taxa de cancelamento de reservas, identificando quais características da reserva e do cliente mais se associam ao cancelamento — para que a rede possa antecipar e agir.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91840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119.390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986784"/>
            <a:ext cx="255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(mínimo exigido: 1.000)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99968" y="3291840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399968" y="3986784"/>
            <a:ext cx="255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(mínimo exigido: 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3291840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233008" y="3986784"/>
            <a:ext cx="255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com valores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ausentes, em 4 níveis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66047" y="3291840"/>
            <a:ext cx="255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9066047" y="3986784"/>
            <a:ext cx="255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reservas foram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5230368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Kaggle · Publicação original: Antonio, Almeida &amp; Nunes (2019), Data in Brief 22, 41–49 · Licença CC0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5522976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por ter ausência de dados em quatro intensidades diferentes — o que obriga a quatro decisões distintas.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Extração: importando os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pede os conectores da ferramenta — aqui, quem conecta é o pandas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309360" cy="1737360"/>
          </a:xfrm>
          <a:prstGeom prst="roundRect">
            <a:avLst>
              <a:gd name="adj" fmla="val 4211"/>
            </a:avLst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8745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dataset entra — notebook 01, célula 2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12848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("https://raw.githubusercontent.com/mendoncaluucas/"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"DataScience/main/data/raw/hotel_bookings.csv")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print(f"{df.shape[0]:,} linhas x {df.shape[1]} colunas")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566160"/>
            <a:ext cx="6309360" cy="1408176"/>
          </a:xfrm>
          <a:prstGeom prst="roundRect">
            <a:avLst>
              <a:gd name="adj" fmla="val 5195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05993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119.390 linhas x 32 colunas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chamada, sem assistente de importação e sem nenhum passo manual.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242048" y="1755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origens, a mesma chamada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2048" y="2286000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4204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2677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do repositório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542032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usamos. Abre no Colab e executa sem nenhum arquivo local.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42048" y="3218688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4204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2004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montado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47472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da atividade anterior: drive.mount() e leitura da pasta.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42048" y="4151376"/>
            <a:ext cx="365760" cy="3657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42048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1330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direto / arquivo local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40740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pd.read_csv("hotel_bookings.csv") quando roda na máquina.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5468112"/>
            <a:ext cx="103263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Plotly não tem:  não existe janela de “Obter Dados” com lista de conectores, como no Power BI. O conector é o pandas — e por isso a lista de fontes é a dele: CSV, Excel, JSON, SQL, Parquet, HTML e APIs.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Diagnóstico: onde faltam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equivalente ao painel “Qualidade da Coluna”, feito em código</a:t>
            </a:r>
            <a:endParaRPr lang="en-US" sz="1400" dirty="0"/>
          </a:p>
        </p:txBody>
      </p:sp>
      <p:pic>
        <p:nvPicPr>
          <p:cNvPr id="4" name="Image 0" descr="C:\Users\Lucas\OneDrive - Católica SC\Documentos\Data Science\n1-ciencia-dados-plotly\docs\prints\01_valores_ausen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00200"/>
            <a:ext cx="68580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600200"/>
            <a:ext cx="3950208" cy="4370832"/>
          </a:xfrm>
          <a:prstGeom prst="roundRect">
            <a:avLst>
              <a:gd name="adj" fmla="val 1852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10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níveis, quatro decisões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86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2286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94,3%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 coluna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944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29443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13,7%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0 = sem agência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6027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36027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0,4%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3858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“Desconhecido”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261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601200" y="42611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registros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517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com zero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497433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não é sempre erro. Em agent, o vazio significa “reserva sem intermediário” — é informação. Preencher com a média destruiria esse significado.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36118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responde “quanto falta”. A tabela ao lado responde “o que fazer” — e é a justificativa, não o percentual, que decide a estratégia.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6928" y="4389120"/>
            <a:ext cx="6858000" cy="1581912"/>
          </a:xfrm>
          <a:prstGeom prst="roundRect">
            <a:avLst>
              <a:gd name="adj" fmla="val 4624"/>
            </a:avLst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86968" y="4572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inteiro, em três linhas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" y="4901184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ausentes = df.isna().sum()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ausentes = ausentes[ausentes &gt; 0].sort_values(ascending=False)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px.bar(ausentes, orientation="h")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cancela mais, e quando a reserva foi feita</a:t>
            </a:r>
            <a:endParaRPr lang="en-US" sz="1400" dirty="0"/>
          </a:p>
        </p:txBody>
      </p:sp>
      <p:pic>
        <p:nvPicPr>
          <p:cNvPr id="4" name="Image 0" descr="C:\Users\Lucas\OneDrive - Católica SC\Documentos\Data Science\n1-ciencia-dados-plotly\docs\prints\02_cancelamento_por_hot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45920"/>
            <a:ext cx="5376672" cy="3200400"/>
          </a:xfrm>
          <a:prstGeom prst="rect">
            <a:avLst/>
          </a:prstGeom>
        </p:spPr>
      </p:pic>
      <p:pic>
        <p:nvPicPr>
          <p:cNvPr id="5" name="Image 1" descr="C:\Users\Lucas\OneDrive - Católica SC\Documentos\Data Science\n1-ciencia-dados-plotly\docs\prints\03_lead_time_por_situaca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645920"/>
            <a:ext cx="5376672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4983480"/>
            <a:ext cx="5376672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1248" y="513892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hotel urbano cancela 1,5× mais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841248" y="5449824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41,7% contra 27,8% do resort — diferença grande demais para ser acaso.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245352" y="4983480"/>
            <a:ext cx="5376672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19672" y="513892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antigas cancelam mais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519672" y="5449824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113 dias entre as canceladas, contra 45 das mantidas.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 hipóteses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move junto com o cancelamento</a:t>
            </a:r>
            <a:endParaRPr lang="en-US" sz="1400" dirty="0"/>
          </a:p>
        </p:txBody>
      </p:sp>
      <p:pic>
        <p:nvPicPr>
          <p:cNvPr id="4" name="Image 0" descr="C:\Users\Lucas\OneDrive - Católica SC\Documentos\Data Science\n1-ciencia-dados-plotly\docs\prints\04_correl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00200"/>
            <a:ext cx="66751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600200"/>
            <a:ext cx="4133088" cy="1920240"/>
          </a:xfrm>
          <a:prstGeom prst="roundRect">
            <a:avLst>
              <a:gd name="adj" fmla="val 3810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com maior antecedência cancelam mais.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688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Confirmada:  r = +0,293, a maior correlação positiva da matriz.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3657600"/>
            <a:ext cx="4133088" cy="1874520"/>
          </a:xfrm>
          <a:prstGeom prst="roundRect">
            <a:avLst>
              <a:gd name="adj" fmla="val 3902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Hóspedes que fazem pedidos especiais cancelam menos.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7457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Confirmada:  r = −0,235. O pedido funciona como sinal de compromisso.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400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divergente com cinza no centro: o zero precisa parecer ausência de relação, não um valor qualquer.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de preparação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etapas — as três exigidas pelo enunciado em destaque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7510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98394" y="2029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68880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61488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estratégias, uma por coluna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4314" y="1737360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8634" y="19751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8634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8634" y="2468880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inconsistentes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18634" y="2761488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meal: “Undefined” e “SC” unificados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1701" y="1737360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6021" y="19751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6021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96021" y="2468880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inválidos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96021" y="2761488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linhas (0,15%): sem hóspede ou diária absurda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639312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98394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133088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features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4256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colunas novas, entre elas receita_estimada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4314" y="3401568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8634" y="3639312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8634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75781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618634" y="4133088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colunas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618634" y="44256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removidas — uma por vazamento de dados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21701" y="3401568"/>
            <a:ext cx="3503066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6021" y="3639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96021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96021" y="4133088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 carga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96021" y="44256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category: 98,5 MB para 22,4 MB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5084064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" y="5303520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119.390 → 119.208 linhas  ·  129.425 células ausentes → zero  ·  memória reduzida em 77%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6928" y="5961888"/>
            <a:ext cx="11057839" cy="694944"/>
          </a:xfrm>
          <a:prstGeom prst="roundRect">
            <a:avLst>
              <a:gd name="adj" fmla="val 10526"/>
            </a:avLst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2688" y="6053328"/>
            <a:ext cx="10326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4 em uma linha — o equivalente à “Coluna Condicional” do Power Query: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32688" y="6327648"/>
            <a:ext cx="10326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df["receita_estimada"] = (df["adr"] * df["total_noites"]).round(2)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coluna que não devia estar ali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cruzar reservation_status com a variável-alvo is_canceled, a correspondência é perfeita: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25316B"/>
          </a:solidFill>
          <a:ln w="12700">
            <a:solidFill>
              <a:srgbClr val="3745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Check-Out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78608" y="24688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90088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is_canceled = 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2468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75.166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26664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25316B"/>
          </a:solidFill>
          <a:ln w="12700">
            <a:solidFill>
              <a:srgbClr val="3745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31638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is_canceled =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163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43.017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721608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25316B"/>
          </a:solidFill>
          <a:ln w="12700">
            <a:solidFill>
              <a:srgbClr val="3745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858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No-Show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3858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is_canceled =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331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grave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74320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coluna não ajuda a prever o cancelamento: ela é o cancelamento, escrito com outro nome.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passa a existir depois que o desfecho aconteceu — exatamente quando a previsão já não serve para nada.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Mantê-la produziria um modelo com 100% de acerto e utilidade zero. É o erro chamado vazamento de dados, e ele engana justamente porque o resultado parece excelente.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Removida junto com reservation_status_date, pelo mesmo motivo: é a data do desfecho.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e depois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do dado bruto ao dado preparado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3200400"/>
          </a:xfrm>
          <a:prstGeom prst="roundRect">
            <a:avLst>
              <a:gd name="adj" fmla="val 2286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9164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13308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32764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2220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3957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33088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119.390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119.208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22208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−182 registros inválidos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2962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9626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9626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22208" y="29626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saíram, 6 entraram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35295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ausentes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529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129.425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529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22208" y="35295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tratadas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78408" y="4096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33088" y="4096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98,5 MB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40965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 MB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22208" y="4096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−77%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07492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5321808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 número de colunas: 32 antes e 32 depois é coincidência, não ausência de mudança. Seis colunas saíram e seis entraram.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exploratório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painéis, todos usando colunas que só existem depois da preparação</a:t>
            </a:r>
            <a:endParaRPr lang="en-US" sz="1400" dirty="0"/>
          </a:p>
        </p:txBody>
      </p:sp>
      <p:pic>
        <p:nvPicPr>
          <p:cNvPr id="4" name="Image 0" descr="C:\Users\Lucas\OneDrive - Católica SC\Documentos\Data Science\n1-ciencia-dados-plotly\docs\prints\05_dashboard_explora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72768"/>
            <a:ext cx="76352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691640"/>
            <a:ext cx="3172968" cy="1243584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8379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→ 57%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2585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sobe de forma contínua com a antecedência da reserva.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58200" y="3081528"/>
            <a:ext cx="3172968" cy="1243584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3227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6484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não reembolsáveis cancelam quase sempre — resultado contraintuitivo.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58200" y="4471416"/>
            <a:ext cx="3172968" cy="1243584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4617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50383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segmento Groups é o que mais cancela: é por onde começar a agir.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587044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depósito: é correlação, não causa. O hotel provavelmente exige depósito justamente das reservas que já considera arriscadas.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154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crítica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4164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abordagem em código entrega — e onde uma ferramenta de BI fechada ganha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atividade anterior para este trabalho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três fases do CRISP-DM, dataset diferente — o que muda é a camada de visualização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356616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81528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anterior (Python puro)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50608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 (Plotly)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432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432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— 7.043 × 21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4323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Bookings — 119.390 × 32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2907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2907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exatamente o mesmo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+ Graph Objects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countplot · boxplot · heatmap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3858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px.bar · px.box · px.imshow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081528" y="4334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PNG estática no notebook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4334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interativo + dashboard Dash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48097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081528" y="4809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individual no Drive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4809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versionado, cinco integrantes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5376672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FDF1E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5559552"/>
            <a:ext cx="10326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mudou foi a preparação. As duas atividades limpam os dados com pandas — fillna, replace, astype. O Plotly entra depois, na visualização. Essa é a diferença arquitetural real em relação ao Power BI, onde o Power Query faz as duas coisas dentro da mesma ferramenta.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00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anterior: “Preparação de Dados com CRISP-DM — ETL e EDA”, dataset Telco Customer Churn (IBM / Kaggle)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Low-code vs. código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ou perde é sempre do ponto de vista do código — os critérios do enunciado vão marcados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19072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inicial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73168" y="18562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cliques no Power BI equivalem a trinta linhas aqui.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79608" y="1874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459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459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24597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Python e pandas. Não é ferramenta para quem não programa.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79608" y="2478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3063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transformação que o Python expressa, sem esperar a ferramenta.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79608" y="3081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6928" y="3529584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36667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é texto versionado. O .pbix é binário: o Git não compara.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79608" y="3685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413308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3675888" y="4270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773168" y="4270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pessoas editam e revisam por diff. Um .pbix não abre em duas mãos.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736592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6968" y="4873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675888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4873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MIT, sem custo por usuário.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340096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6968" y="5477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corporativa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675888" y="5477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773168" y="54772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catálogo, sem permissão por linha, sem portal de distribuição.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0167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Plotly tem a sua própria camada low-code — o Chart Studio, que monta gráfico a partir de um CSV sem escrever código — e ela herda este mesmo quadro: ganha em velocidade inicial, perde em reprodutibilidade. Ficamos com a camada de código pelos “ganha” do meio da tabela.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167335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Plotly cobre as três fases, por um caminho diferente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2039112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limpeza acontece no pandas e o Plotly visualiza o resultado. Não há um Power Query embutido — e admitir isso é parte da análise.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990088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297180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justificativa vale mais que a técnica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333756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uma coluna por vazamento de dados exigiu entender o problema, não a ferramenta. Nenhum menu sugere essa decisão.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288536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427024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é mais lento para começar e mais barato para manter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4636008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Custou mais linhas montar. Em compensação, o pipeline inteiro se reconstrói sozinho a partir da fonte original.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53212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5316B"/>
          </a:solidFill>
          <a:ln w="12700">
            <a:solidFill>
              <a:srgbClr val="3745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5742432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que encontramos:  o Plotly não substitui uma plataforma de BI em ambiente corporativo — falta governança, catálogo e distribuição. Ele resolve outro problema.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Aplicação Prática do Plotly nas Fases Iniciais do CRISP-DM</dc:title>
  <dc:subject>PptxGenJS Presentation</dc:subject>
  <dc:creator>Henrique Cordeiro de Oliveira, Lucas Mendonça, Victor Kunz, Nicholas Scoz, Kauã Lucindo</dc:creator>
  <cp:lastModifiedBy>Henrique Cordeiro de Oliveira, Lucas Mendonça, Victor Kunz, Nicholas Scoz, Kauã Lucindo</cp:lastModifiedBy>
  <cp:revision>1</cp:revision>
  <dcterms:created xsi:type="dcterms:W3CDTF">2026-09-15T19:10:44Z</dcterms:created>
  <dcterms:modified xsi:type="dcterms:W3CDTF">2026-09-15T19:10:44Z</dcterms:modified>
</cp:coreProperties>
</file>